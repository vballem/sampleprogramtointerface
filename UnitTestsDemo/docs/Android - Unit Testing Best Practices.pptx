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4"/>
  </p:notesMasterIdLst>
  <p:sldIdLst>
    <p:sldId id="256" r:id="rId2"/>
    <p:sldId id="257" r:id="rId3"/>
    <p:sldId id="384" r:id="rId4"/>
    <p:sldId id="374" r:id="rId5"/>
    <p:sldId id="268" r:id="rId6"/>
    <p:sldId id="380" r:id="rId7"/>
    <p:sldId id="375" r:id="rId8"/>
    <p:sldId id="376" r:id="rId9"/>
    <p:sldId id="377" r:id="rId10"/>
    <p:sldId id="382" r:id="rId11"/>
    <p:sldId id="363" r:id="rId12"/>
    <p:sldId id="38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B1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03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14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0589A-770A-FC48-A0D1-43ACC55CB2E5}" type="datetimeFigureOut">
              <a:rPr lang="en-US" smtClean="0"/>
              <a:t>4/21/25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87D83-4E1D-FA4A-9C7C-C4387DFE2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93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7800" marR="0" lvl="0" indent="-17780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fld id="{7AC2AD96-5BFA-ED41-B2D6-EA2206C510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177800" marR="0" lvl="0" indent="-17780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6203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084D6-2332-48F0-EF61-0075C7A6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F6FA9-D34A-4990-2E5E-937E24FD4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2BFE7-75D6-E0CD-2368-51BD3C3D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6AF8D-CF0D-CA18-D5F3-B3FB5378A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7800" marR="0" lvl="0" indent="-17780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fld id="{7AC2AD96-5BFA-ED41-B2D6-EA2206C510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177800" marR="0" lvl="0" indent="-17780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4023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2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2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8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7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9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09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16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3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08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6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6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43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esting.googleblog.com/2013/06/testing-on-toilet-fake-your-way-to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android.com/training/testing/fundamentals" TargetMode="External"/><Relationship Id="rId3" Type="http://schemas.openxmlformats.org/officeDocument/2006/relationships/hyperlink" Target="https://testing.googleblog.com/2013/06/testing-on-toilet-fake-your-way-to.html" TargetMode="External"/><Relationship Id="rId7" Type="http://schemas.openxmlformats.org/officeDocument/2006/relationships/hyperlink" Target="https://www.amazon.com/Art-Unit-Testing-examples/dp/161729089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artofunittesting.com/" TargetMode="External"/><Relationship Id="rId5" Type="http://schemas.openxmlformats.org/officeDocument/2006/relationships/hyperlink" Target="https://martinfowler.com/bliki/TestDouble.html" TargetMode="External"/><Relationship Id="rId10" Type="http://schemas.openxmlformats.org/officeDocument/2006/relationships/hyperlink" Target="https://learn.microsoft.com/en-us/archive/msdn-magazine/2007/september/unit-testing-exploring-the-continuum-of-test-doubles" TargetMode="External"/><Relationship Id="rId4" Type="http://schemas.openxmlformats.org/officeDocument/2006/relationships/hyperlink" Target="https://testing.googleblog.com/2013/05/testing-on-toilet-dont-overuse-mocks.html" TargetMode="External"/><Relationship Id="rId9" Type="http://schemas.openxmlformats.org/officeDocument/2006/relationships/hyperlink" Target="https://learn.microsoft.com/en-us/archive/msdn-magazine/2007/september/unit-testing-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9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8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96" name="Group 2095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2097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8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00" name="Group 2099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101" name="Freeform: Shape 2100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02" name="Freeform: Shape 2101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03" name="Freeform: Shape 2102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04" name="Freeform: Shape 2103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05" name="Freeform: Shape 2104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06" name="Freeform: Shape 2105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07" name="Freeform: Shape 2106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907" y="482535"/>
            <a:ext cx="7491469" cy="24330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Android : Unit Testing Best Practices</a:t>
            </a:r>
            <a:b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</a:t>
            </a:r>
            <a:b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Prefer </a:t>
            </a:r>
            <a:r>
              <a:rPr lang="en-US" sz="3600" b="1" i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Fakes</a:t>
            </a:r>
            <a: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over </a:t>
            </a:r>
            <a:r>
              <a:rPr lang="en-US" sz="3600" b="1" i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Mocks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EE23C1-149F-11C0-80CD-905DA0A53BB7}"/>
              </a:ext>
            </a:extLst>
          </p:cNvPr>
          <p:cNvSpPr txBox="1"/>
          <p:nvPr/>
        </p:nvSpPr>
        <p:spPr>
          <a:xfrm>
            <a:off x="589787" y="5263376"/>
            <a:ext cx="2017397" cy="954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u="sng" dirty="0">
                <a:solidFill>
                  <a:schemeClr val="tx2"/>
                </a:solidFill>
              </a:rPr>
              <a:t>Venkat Ballem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</a:rPr>
              <a:t>Android Engineer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3E7F01F-4BD9-C049-4290-563246BF2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350" y="1975748"/>
            <a:ext cx="2814388" cy="26305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12" y="1253331"/>
            <a:ext cx="78867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Traditional unit tests often rely heavily on </a:t>
            </a:r>
            <a:r>
              <a:rPr lang="en-US" sz="1800" b="1" dirty="0"/>
              <a:t>mocks</a:t>
            </a:r>
            <a:r>
              <a:rPr lang="en-US" sz="1800" dirty="0"/>
              <a:t> to simulate dependencies.</a:t>
            </a:r>
          </a:p>
          <a:p>
            <a:r>
              <a:rPr lang="en-US" sz="1800" b="1" dirty="0"/>
              <a:t>Mocking frameworks</a:t>
            </a:r>
            <a:r>
              <a:rPr lang="en-US" sz="1800" dirty="0"/>
              <a:t> (like MockK) introduce extra setup and can slow down tests.</a:t>
            </a:r>
          </a:p>
          <a:p>
            <a:r>
              <a:rPr lang="en-US" sz="1800" dirty="0"/>
              <a:t>Over-mocking leads to </a:t>
            </a:r>
            <a:r>
              <a:rPr lang="en-US" sz="1800" b="1" dirty="0"/>
              <a:t>brittle tests</a:t>
            </a:r>
            <a:r>
              <a:rPr lang="en-US" sz="1800" dirty="0"/>
              <a:t> tied to implementation details.</a:t>
            </a:r>
          </a:p>
          <a:p>
            <a:r>
              <a:rPr lang="en-US" sz="1800" b="1" dirty="0"/>
              <a:t>Fakes</a:t>
            </a:r>
            <a:r>
              <a:rPr lang="en-US" sz="1800" dirty="0"/>
              <a:t> are lightweight, real implementations with controlled behavior.</a:t>
            </a:r>
          </a:p>
          <a:p>
            <a:r>
              <a:rPr lang="en-US" sz="1800" dirty="0"/>
              <a:t>Industry best practices now </a:t>
            </a:r>
            <a:r>
              <a:rPr lang="en-US" sz="1800" b="1" dirty="0"/>
              <a:t>favor Fakes for faster, more reliable tests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7797D0A-1C68-A84D-534E-31AA93B4503D}"/>
              </a:ext>
            </a:extLst>
          </p:cNvPr>
          <p:cNvSpPr txBox="1">
            <a:spLocks/>
          </p:cNvSpPr>
          <p:nvPr/>
        </p:nvSpPr>
        <p:spPr>
          <a:xfrm>
            <a:off x="285712" y="376279"/>
            <a:ext cx="7886700" cy="43776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09"/>
            <a:r>
              <a:rPr lang="en-US" sz="2200" dirty="0">
                <a:solidFill>
                  <a:schemeClr val="tx2"/>
                </a:solidFill>
                <a:latin typeface="Century Gothic"/>
              </a:rPr>
              <a:t>Background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7AB2E-4597-7CF4-961A-FC4A136AE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00A40-EB7E-82AF-F71A-EE6C15C2C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12" y="1253331"/>
            <a:ext cx="78867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Test Doubles</a:t>
            </a:r>
            <a:endParaRPr sz="1800" dirty="0"/>
          </a:p>
          <a:p>
            <a:r>
              <a:rPr lang="en-US" sz="1800" dirty="0"/>
              <a:t>Prefer Fakes over Mocks</a:t>
            </a:r>
          </a:p>
          <a:p>
            <a:r>
              <a:rPr sz="1800" dirty="0"/>
              <a:t>Best Practices: When to Use What</a:t>
            </a:r>
            <a:endParaRPr lang="en-US" sz="1800" dirty="0"/>
          </a:p>
          <a:p>
            <a:pPr lvl="1"/>
            <a:r>
              <a:rPr lang="en-US" sz="1400" dirty="0"/>
              <a:t>Regular</a:t>
            </a:r>
          </a:p>
          <a:p>
            <a:pPr lvl="1"/>
            <a:r>
              <a:rPr lang="en-US" sz="1400" dirty="0"/>
              <a:t>Network API</a:t>
            </a:r>
          </a:p>
          <a:p>
            <a:pPr lvl="1"/>
            <a:r>
              <a:rPr lang="en-US" sz="1400" dirty="0"/>
              <a:t>Database</a:t>
            </a:r>
          </a:p>
          <a:p>
            <a:pPr lvl="1"/>
            <a:r>
              <a:rPr lang="en-US" sz="1400" dirty="0"/>
              <a:t>Android Framework</a:t>
            </a:r>
          </a:p>
          <a:p>
            <a:r>
              <a:rPr sz="1800" dirty="0"/>
              <a:t>Q&amp;A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A6093C-587E-9723-F7B3-46D737312350}"/>
              </a:ext>
            </a:extLst>
          </p:cNvPr>
          <p:cNvSpPr txBox="1">
            <a:spLocks/>
          </p:cNvSpPr>
          <p:nvPr/>
        </p:nvSpPr>
        <p:spPr>
          <a:xfrm>
            <a:off x="285712" y="376279"/>
            <a:ext cx="7886700" cy="43776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09"/>
            <a:r>
              <a:rPr lang="en-US" sz="2200" dirty="0">
                <a:solidFill>
                  <a:schemeClr val="tx2"/>
                </a:solidFill>
                <a:latin typeface="Century Gothic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72433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9EF15-0ED7-73BC-63BF-DAD09E0AB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203B827-980D-F4B0-6D3B-BE890FF12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92" b="2"/>
          <a:stretch/>
        </p:blipFill>
        <p:spPr>
          <a:xfrm>
            <a:off x="120767" y="1871292"/>
            <a:ext cx="5320665" cy="3264408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1B831C-F22F-EBCE-A659-E9215B336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593" y="1871292"/>
            <a:ext cx="3394058" cy="3264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B1792CC-6596-CFFA-F35C-F310B616728F}"/>
              </a:ext>
            </a:extLst>
          </p:cNvPr>
          <p:cNvSpPr txBox="1">
            <a:spLocks/>
          </p:cNvSpPr>
          <p:nvPr/>
        </p:nvSpPr>
        <p:spPr>
          <a:xfrm>
            <a:off x="285712" y="376279"/>
            <a:ext cx="7886700" cy="43776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09"/>
            <a:r>
              <a:rPr lang="en-US" sz="2200" dirty="0">
                <a:solidFill>
                  <a:schemeClr val="tx2"/>
                </a:solidFill>
                <a:latin typeface="Century Gothic"/>
              </a:rPr>
              <a:t>Test Doubles</a:t>
            </a:r>
          </a:p>
        </p:txBody>
      </p:sp>
    </p:spTree>
    <p:extLst>
      <p:ext uri="{BB962C8B-B14F-4D97-AF65-F5344CB8AC3E}">
        <p14:creationId xmlns:p14="http://schemas.microsoft.com/office/powerpoint/2010/main" val="219894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BB399-86AD-35CC-343F-9F8CAFA9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Content Placeholder 43">
            <a:extLst>
              <a:ext uri="{FF2B5EF4-FFF2-40B4-BE49-F238E27FC236}">
                <a16:creationId xmlns:a16="http://schemas.microsoft.com/office/drawing/2014/main" id="{4313BBC1-515B-592F-9198-64CF336E4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144" y="1825625"/>
            <a:ext cx="7735712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A2A47B-3857-440E-95C5-5B5219F9ACFD}"/>
              </a:ext>
            </a:extLst>
          </p:cNvPr>
          <p:cNvSpPr txBox="1">
            <a:spLocks/>
          </p:cNvSpPr>
          <p:nvPr/>
        </p:nvSpPr>
        <p:spPr>
          <a:xfrm>
            <a:off x="285712" y="376279"/>
            <a:ext cx="7886700" cy="43776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09"/>
            <a:r>
              <a:rPr lang="en-US" sz="2200" dirty="0">
                <a:solidFill>
                  <a:schemeClr val="tx2"/>
                </a:solidFill>
                <a:latin typeface="Century Gothic"/>
              </a:rPr>
              <a:t>Testing on the Toilet</a:t>
            </a:r>
          </a:p>
        </p:txBody>
      </p:sp>
    </p:spTree>
    <p:extLst>
      <p:ext uri="{BB962C8B-B14F-4D97-AF65-F5344CB8AC3E}">
        <p14:creationId xmlns:p14="http://schemas.microsoft.com/office/powerpoint/2010/main" val="860404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E95AD-0E90-EA38-BDDA-41D622633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C8718B-A750-95AF-A27E-FEF10C0F9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582" y="1787998"/>
            <a:ext cx="4215608" cy="4021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BD7BC5-0675-4AC2-F3FA-CF04CBAD563E}"/>
              </a:ext>
            </a:extLst>
          </p:cNvPr>
          <p:cNvSpPr txBox="1"/>
          <p:nvPr/>
        </p:nvSpPr>
        <p:spPr>
          <a:xfrm>
            <a:off x="285712" y="6331680"/>
            <a:ext cx="43068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>
                <a:solidFill>
                  <a:schemeClr val="bg1">
                    <a:lumMod val="6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en-US" sz="675" dirty="0">
                <a:solidFill>
                  <a:schemeClr val="bg1">
                    <a:lumMod val="65000"/>
                  </a:schemeClr>
                </a:solidFill>
              </a:rPr>
              <a:t>:  </a:t>
            </a:r>
            <a:r>
              <a:rPr lang="en-US" sz="675" dirty="0">
                <a:solidFill>
                  <a:schemeClr val="bg1">
                    <a:lumMod val="6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https://testing.googleblog.com/2013/06/testing-on-toilet-fake-your-way-to.html</a:t>
            </a:r>
            <a:endParaRPr lang="en-US" sz="675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sz="675" dirty="0">
                <a:solidFill>
                  <a:schemeClr val="bg1">
                    <a:lumMod val="6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en-US" sz="675" dirty="0">
                <a:solidFill>
                  <a:schemeClr val="bg1">
                    <a:lumMod val="65000"/>
                  </a:schemeClr>
                </a:solidFill>
              </a:rPr>
              <a:t>:  https://</a:t>
            </a:r>
            <a:r>
              <a:rPr lang="en-US" sz="675" dirty="0" err="1">
                <a:solidFill>
                  <a:schemeClr val="bg1">
                    <a:lumMod val="65000"/>
                  </a:schemeClr>
                </a:solidFill>
              </a:rPr>
              <a:t>testing.googleblog.com</a:t>
            </a:r>
            <a:r>
              <a:rPr lang="en-US" sz="675" dirty="0">
                <a:solidFill>
                  <a:schemeClr val="bg1">
                    <a:lumMod val="65000"/>
                  </a:schemeClr>
                </a:solidFill>
              </a:rPr>
              <a:t>/2013/05/testing-on-toilet-</a:t>
            </a:r>
            <a:r>
              <a:rPr lang="en-US" sz="675" dirty="0" err="1">
                <a:solidFill>
                  <a:schemeClr val="bg1">
                    <a:lumMod val="65000"/>
                  </a:schemeClr>
                </a:solidFill>
              </a:rPr>
              <a:t>dont</a:t>
            </a:r>
            <a:r>
              <a:rPr lang="en-US" sz="675" dirty="0">
                <a:solidFill>
                  <a:schemeClr val="bg1">
                    <a:lumMod val="65000"/>
                  </a:schemeClr>
                </a:solidFill>
              </a:rPr>
              <a:t>-overuse-</a:t>
            </a:r>
            <a:r>
              <a:rPr lang="en-US" sz="675" dirty="0" err="1">
                <a:solidFill>
                  <a:schemeClr val="bg1">
                    <a:lumMod val="65000"/>
                  </a:schemeClr>
                </a:solidFill>
              </a:rPr>
              <a:t>mocks.html</a:t>
            </a:r>
            <a:endParaRPr lang="en-US" sz="675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137BDC-CCC8-D102-7433-64D42A6AF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12" y="1682731"/>
            <a:ext cx="4121029" cy="412705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47127A-3E5F-A181-D6BD-1BF12826AC73}"/>
              </a:ext>
            </a:extLst>
          </p:cNvPr>
          <p:cNvSpPr txBox="1">
            <a:spLocks/>
          </p:cNvSpPr>
          <p:nvPr/>
        </p:nvSpPr>
        <p:spPr>
          <a:xfrm>
            <a:off x="285712" y="376279"/>
            <a:ext cx="7886700" cy="43776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09"/>
            <a:r>
              <a:rPr lang="en-US" sz="2200" dirty="0">
                <a:solidFill>
                  <a:schemeClr val="tx2"/>
                </a:solidFill>
                <a:latin typeface="Century Gothic"/>
              </a:rPr>
              <a:t>Testing on the Toilet</a:t>
            </a:r>
          </a:p>
        </p:txBody>
      </p:sp>
    </p:spTree>
    <p:extLst>
      <p:ext uri="{BB962C8B-B14F-4D97-AF65-F5344CB8AC3E}">
        <p14:creationId xmlns:p14="http://schemas.microsoft.com/office/powerpoint/2010/main" val="391658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45951-BF4A-DE65-6582-FB6CA801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F6D0CE49-6331-0849-5338-A0FF851B5DE8}"/>
              </a:ext>
            </a:extLst>
          </p:cNvPr>
          <p:cNvGraphicFramePr>
            <a:graphicFrameLocks/>
          </p:cNvGraphicFramePr>
          <p:nvPr/>
        </p:nvGraphicFramePr>
        <p:xfrm>
          <a:off x="285712" y="1729616"/>
          <a:ext cx="5501771" cy="3398772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427529">
                  <a:extLst>
                    <a:ext uri="{9D8B030D-6E8A-4147-A177-3AD203B41FA5}">
                      <a16:colId xmlns:a16="http://schemas.microsoft.com/office/drawing/2014/main" val="2557963056"/>
                    </a:ext>
                  </a:extLst>
                </a:gridCol>
                <a:gridCol w="2049817">
                  <a:extLst>
                    <a:ext uri="{9D8B030D-6E8A-4147-A177-3AD203B41FA5}">
                      <a16:colId xmlns:a16="http://schemas.microsoft.com/office/drawing/2014/main" val="2041376753"/>
                    </a:ext>
                  </a:extLst>
                </a:gridCol>
                <a:gridCol w="2024425">
                  <a:extLst>
                    <a:ext uri="{9D8B030D-6E8A-4147-A177-3AD203B41FA5}">
                      <a16:colId xmlns:a16="http://schemas.microsoft.com/office/drawing/2014/main" val="2037846813"/>
                    </a:ext>
                  </a:extLst>
                </a:gridCol>
              </a:tblGrid>
              <a:tr h="566462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Aspect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>
                    <a:solidFill>
                      <a:srgbClr val="E2B1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 Fake</a:t>
                      </a:r>
                      <a:br>
                        <a:rPr lang="en-US" sz="800" kern="100" dirty="0">
                          <a:effectLst/>
                        </a:rPr>
                      </a:br>
                      <a:r>
                        <a:rPr lang="en-US" sz="800" kern="100" dirty="0">
                          <a:effectLst/>
                        </a:rPr>
                        <a:t>(Custom Simple Implementation)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>
                    <a:solidFill>
                      <a:srgbClr val="E2B1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Mock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(</a:t>
                      </a:r>
                      <a:r>
                        <a:rPr lang="en-US" sz="800" kern="100" dirty="0" err="1">
                          <a:effectLst/>
                        </a:rPr>
                        <a:t>MockK</a:t>
                      </a:r>
                      <a:r>
                        <a:rPr lang="en-US" sz="800" kern="100" dirty="0">
                          <a:effectLst/>
                        </a:rPr>
                        <a:t>, Mockito)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>
                    <a:solidFill>
                      <a:srgbClr val="E2B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61236"/>
                  </a:ext>
                </a:extLst>
              </a:tr>
              <a:tr h="566462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     Execution Speed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Very fast (in-memory, no reflection)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Slower (framework overhead, proxy generation)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extLst>
                  <a:ext uri="{0D108BD9-81ED-4DB2-BD59-A6C34878D82A}">
                    <a16:rowId xmlns:a16="http://schemas.microsoft.com/office/drawing/2014/main" val="3667804914"/>
                  </a:ext>
                </a:extLst>
              </a:tr>
              <a:tr h="566462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     Time to Write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Medium — needs simple in-memory logic implementation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Low — generated instantly via frameworks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extLst>
                  <a:ext uri="{0D108BD9-81ED-4DB2-BD59-A6C34878D82A}">
                    <a16:rowId xmlns:a16="http://schemas.microsoft.com/office/drawing/2014/main" val="2832850113"/>
                  </a:ext>
                </a:extLst>
              </a:tr>
              <a:tr h="566462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     Maintenance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Low — stable once written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High — breaks easily with method signature changes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extLst>
                  <a:ext uri="{0D108BD9-81ED-4DB2-BD59-A6C34878D82A}">
                    <a16:rowId xmlns:a16="http://schemas.microsoft.com/office/drawing/2014/main" val="1399854265"/>
                  </a:ext>
                </a:extLst>
              </a:tr>
              <a:tr h="566462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    Debuggability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>
                          <a:effectLst/>
                        </a:rPr>
                        <a:t>Easy — behaves like real class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>
                          <a:effectLst/>
                        </a:rPr>
                        <a:t>Hard — needs trace through mocking logic or verification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extLst>
                  <a:ext uri="{0D108BD9-81ED-4DB2-BD59-A6C34878D82A}">
                    <a16:rowId xmlns:a16="http://schemas.microsoft.com/office/drawing/2014/main" val="3449712386"/>
                  </a:ext>
                </a:extLst>
              </a:tr>
              <a:tr h="566462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     Readability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High — looks like actual business logic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800" kern="100" dirty="0">
                          <a:effectLst/>
                        </a:rPr>
                        <a:t>Moderate — readable only if familiar with mocking style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3" marR="6683" marT="6683" marB="6683" anchor="ctr"/>
                </a:tc>
                <a:extLst>
                  <a:ext uri="{0D108BD9-81ED-4DB2-BD59-A6C34878D82A}">
                    <a16:rowId xmlns:a16="http://schemas.microsoft.com/office/drawing/2014/main" val="195525454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D15F360-1025-440D-7ACC-48F9C98C2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442" y="1660846"/>
            <a:ext cx="2265846" cy="339876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D85CA2F-D25E-C66B-AE85-E66537370714}"/>
              </a:ext>
            </a:extLst>
          </p:cNvPr>
          <p:cNvSpPr txBox="1">
            <a:spLocks/>
          </p:cNvSpPr>
          <p:nvPr/>
        </p:nvSpPr>
        <p:spPr>
          <a:xfrm>
            <a:off x="285712" y="376279"/>
            <a:ext cx="7886700" cy="43776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09"/>
            <a:r>
              <a:rPr lang="en-US" sz="2200" dirty="0">
                <a:solidFill>
                  <a:schemeClr val="tx2"/>
                </a:solidFill>
                <a:latin typeface="Century Gothic"/>
              </a:rPr>
              <a:t>Prefer Fakes over Mocks</a:t>
            </a:r>
          </a:p>
        </p:txBody>
      </p:sp>
    </p:spTree>
    <p:extLst>
      <p:ext uri="{BB962C8B-B14F-4D97-AF65-F5344CB8AC3E}">
        <p14:creationId xmlns:p14="http://schemas.microsoft.com/office/powerpoint/2010/main" val="37094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4EF30-4675-B7F2-2F2F-66E7533F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0AC6795E-5B66-E634-1E75-949569C7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481" y="3902748"/>
            <a:ext cx="3585015" cy="15621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B797CF-8C7C-F182-BFCF-91290767E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440" y="1613084"/>
            <a:ext cx="5115848" cy="21650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DEE828-5746-2BF7-2CE4-8D2D5F446547}"/>
              </a:ext>
            </a:extLst>
          </p:cNvPr>
          <p:cNvSpPr txBox="1"/>
          <p:nvPr/>
        </p:nvSpPr>
        <p:spPr>
          <a:xfrm>
            <a:off x="285712" y="1492622"/>
            <a:ext cx="2935559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dirty="0"/>
              <a:t>Realistic Simulation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/>
              <a:t>Retry Logic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/>
              <a:t>Timeout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/>
              <a:t>Network latency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/>
              <a:t>Headers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/>
              <a:t>Request/response tracking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b="1" dirty="0"/>
              <a:t>REST</a:t>
            </a:r>
            <a:r>
              <a:rPr lang="en-US" sz="1050" dirty="0"/>
              <a:t>:  </a:t>
            </a:r>
            <a:r>
              <a:rPr lang="en-US" sz="1050" dirty="0" err="1"/>
              <a:t>okhttp</a:t>
            </a:r>
            <a:r>
              <a:rPr lang="en-US" sz="1050" dirty="0"/>
              <a:t>-</a:t>
            </a:r>
            <a:r>
              <a:rPr lang="en-US" sz="1050" i="1" dirty="0"/>
              <a:t>mockwebserver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b="1" i="1" dirty="0" err="1"/>
              <a:t>GraphQL</a:t>
            </a:r>
            <a:r>
              <a:rPr lang="en-US" sz="1050" i="1" dirty="0"/>
              <a:t>: apollo-</a:t>
            </a:r>
            <a:r>
              <a:rPr lang="en-US" sz="1050" i="1" dirty="0" err="1"/>
              <a:t>kotlin</a:t>
            </a:r>
            <a:r>
              <a:rPr lang="en-US" sz="1050" i="1" dirty="0"/>
              <a:t>-</a:t>
            </a:r>
            <a:r>
              <a:rPr lang="en-US" sz="1050" i="1" dirty="0" err="1"/>
              <a:t>mockserver</a:t>
            </a:r>
            <a:endParaRPr lang="en-US" sz="1050" i="1" dirty="0"/>
          </a:p>
          <a:p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720261-6536-17F3-D3A8-F347AD3ED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13" y="4000532"/>
            <a:ext cx="2538296" cy="16921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45926A-BCBE-0C82-1FB7-523BF302332B}"/>
              </a:ext>
            </a:extLst>
          </p:cNvPr>
          <p:cNvSpPr txBox="1"/>
          <p:nvPr/>
        </p:nvSpPr>
        <p:spPr bwMode="gray">
          <a:xfrm>
            <a:off x="955709" y="3717780"/>
            <a:ext cx="1199136" cy="239193"/>
          </a:xfrm>
          <a:prstGeom prst="rect">
            <a:avLst/>
          </a:prstGeom>
          <a:noFill/>
        </p:spPr>
        <p:txBody>
          <a:bodyPr wrap="none" lIns="27000" tIns="27000" rIns="27000" bIns="2700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Fish bone diagram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9224685-00BF-9FAC-8374-025EDDFE7128}"/>
              </a:ext>
            </a:extLst>
          </p:cNvPr>
          <p:cNvSpPr txBox="1">
            <a:spLocks/>
          </p:cNvSpPr>
          <p:nvPr/>
        </p:nvSpPr>
        <p:spPr>
          <a:xfrm>
            <a:off x="285712" y="376279"/>
            <a:ext cx="7886700" cy="43776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09"/>
            <a:r>
              <a:rPr lang="en-US" sz="2200" dirty="0">
                <a:solidFill>
                  <a:schemeClr val="tx2"/>
                </a:solidFill>
                <a:latin typeface="Century Gothic"/>
              </a:rPr>
              <a:t>Scenario: Network API</a:t>
            </a:r>
          </a:p>
        </p:txBody>
      </p:sp>
    </p:spTree>
    <p:extLst>
      <p:ext uri="{BB962C8B-B14F-4D97-AF65-F5344CB8AC3E}">
        <p14:creationId xmlns:p14="http://schemas.microsoft.com/office/powerpoint/2010/main" val="542212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AE413-8F33-8632-9231-16EAF45B1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F9DAC-362E-C2E1-7A92-903A2F07D50B}"/>
              </a:ext>
            </a:extLst>
          </p:cNvPr>
          <p:cNvSpPr txBox="1"/>
          <p:nvPr/>
        </p:nvSpPr>
        <p:spPr>
          <a:xfrm>
            <a:off x="285712" y="1386305"/>
            <a:ext cx="365345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dirty="0"/>
              <a:t>Prefer </a:t>
            </a:r>
            <a:r>
              <a:rPr lang="en-US" sz="1050" i="1" dirty="0"/>
              <a:t>in-memory database like Room </a:t>
            </a:r>
            <a:r>
              <a:rPr lang="en-US" sz="1050" b="1" i="1" dirty="0"/>
              <a:t>In-</a:t>
            </a:r>
            <a:r>
              <a:rPr lang="en-US" sz="1050" b="1" i="1" dirty="0" err="1"/>
              <a:t>MemoryDatabase</a:t>
            </a:r>
            <a:endParaRPr lang="en-US" sz="1050" b="1" i="1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dirty="0"/>
              <a:t>Tests real SQL queries &amp; schema constraints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dirty="0"/>
              <a:t>No need to mock every DAO function manually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dirty="0"/>
              <a:t>Detects issues with Room annotations, migrations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dirty="0"/>
              <a:t>Reflects real database behavior (e.g., insert-conflict)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dirty="0"/>
              <a:t>Ensures end-to-end data flow is correct</a:t>
            </a:r>
          </a:p>
        </p:txBody>
      </p:sp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CFEF36E8-0102-0441-5BCA-A31E5429B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51" y="3020398"/>
            <a:ext cx="8085018" cy="292320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2874CB0-BE96-DE6D-028F-FC8B4F7FF28E}"/>
              </a:ext>
            </a:extLst>
          </p:cNvPr>
          <p:cNvSpPr txBox="1">
            <a:spLocks/>
          </p:cNvSpPr>
          <p:nvPr/>
        </p:nvSpPr>
        <p:spPr>
          <a:xfrm>
            <a:off x="285712" y="376279"/>
            <a:ext cx="7886700" cy="43776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09"/>
            <a:r>
              <a:rPr lang="en-US" sz="2200" dirty="0">
                <a:solidFill>
                  <a:schemeClr val="tx2"/>
                </a:solidFill>
                <a:latin typeface="Century Gothic"/>
              </a:rPr>
              <a:t>Scenario: Database API</a:t>
            </a:r>
          </a:p>
        </p:txBody>
      </p:sp>
    </p:spTree>
    <p:extLst>
      <p:ext uri="{BB962C8B-B14F-4D97-AF65-F5344CB8AC3E}">
        <p14:creationId xmlns:p14="http://schemas.microsoft.com/office/powerpoint/2010/main" val="2790765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4943E-D088-3853-33BA-EF523A6E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5948DC1-7A04-A600-828D-9A666F9279D4}"/>
              </a:ext>
            </a:extLst>
          </p:cNvPr>
          <p:cNvSpPr txBox="1"/>
          <p:nvPr/>
        </p:nvSpPr>
        <p:spPr>
          <a:xfrm>
            <a:off x="285712" y="1282389"/>
            <a:ext cx="6212662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b="1" dirty="0"/>
              <a:t>Third-Party SDKs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/>
              <a:t>e.g., Firebase, Payment APIs</a:t>
            </a:r>
            <a:endParaRPr lang="en-US" sz="1050" b="1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b="1" dirty="0"/>
              <a:t>Android Framework Classes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/>
              <a:t>Context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 err="1"/>
              <a:t>SharedPreferences</a:t>
            </a:r>
            <a:endParaRPr lang="en-US" sz="1050" dirty="0"/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 err="1"/>
              <a:t>LocationManager</a:t>
            </a:r>
            <a:endParaRPr lang="en-US" sz="1050" dirty="0"/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 err="1"/>
              <a:t>NotificationManager</a:t>
            </a:r>
            <a:endParaRPr lang="en-US" sz="1050" dirty="0"/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 err="1"/>
              <a:t>ClipboardManager</a:t>
            </a:r>
            <a:r>
              <a:rPr lang="en-US" sz="1050" dirty="0"/>
              <a:t>  etc.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b="1" dirty="0"/>
              <a:t>Static/Final Classes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/>
              <a:t>e.g., </a:t>
            </a:r>
            <a:r>
              <a:rPr lang="en-US" sz="1050" dirty="0" err="1"/>
              <a:t>TextUtils.isEmpty</a:t>
            </a:r>
            <a:endParaRPr lang="en-US" sz="1050" dirty="0"/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50" dirty="0" err="1"/>
              <a:t>Build.VERSION.SDK_INT</a:t>
            </a:r>
            <a:r>
              <a:rPr lang="en-US" sz="1050" dirty="0"/>
              <a:t>, </a:t>
            </a:r>
            <a:r>
              <a:rPr lang="en-US" sz="1050" dirty="0" err="1"/>
              <a:t>TextUtils.isEmpty</a:t>
            </a:r>
            <a:r>
              <a:rPr lang="en-US" sz="1050" dirty="0"/>
              <a:t>()..</a:t>
            </a:r>
            <a:r>
              <a:rPr lang="en-US" sz="1050" dirty="0" err="1"/>
              <a:t>etc</a:t>
            </a:r>
            <a:endParaRPr lang="en-US" sz="105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dirty="0"/>
              <a:t>Places where you  can’t be able to use Fakes.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endParaRPr lang="en-US" sz="1050" dirty="0"/>
          </a:p>
          <a:p>
            <a:endParaRPr lang="en-US" sz="105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0DC56B-4499-A45C-262D-62D9F0E02594}"/>
              </a:ext>
            </a:extLst>
          </p:cNvPr>
          <p:cNvSpPr txBox="1">
            <a:spLocks/>
          </p:cNvSpPr>
          <p:nvPr/>
        </p:nvSpPr>
        <p:spPr>
          <a:xfrm>
            <a:off x="438112" y="528679"/>
            <a:ext cx="7886700" cy="43776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09"/>
            <a:endParaRPr lang="en-US" sz="2200" dirty="0">
              <a:solidFill>
                <a:schemeClr val="tx2"/>
              </a:solidFill>
              <a:latin typeface="Century Gothic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A8B0413-9DDF-653E-7C5D-F2D877EF5F10}"/>
              </a:ext>
            </a:extLst>
          </p:cNvPr>
          <p:cNvSpPr txBox="1">
            <a:spLocks/>
          </p:cNvSpPr>
          <p:nvPr/>
        </p:nvSpPr>
        <p:spPr>
          <a:xfrm>
            <a:off x="285712" y="376279"/>
            <a:ext cx="7886700" cy="43776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09"/>
            <a:r>
              <a:rPr lang="en-US" sz="2200" dirty="0">
                <a:solidFill>
                  <a:schemeClr val="tx2"/>
                </a:solidFill>
                <a:latin typeface="Century Gothic"/>
              </a:rPr>
              <a:t>Scenario: Android Framework API</a:t>
            </a:r>
          </a:p>
        </p:txBody>
      </p:sp>
    </p:spTree>
    <p:extLst>
      <p:ext uri="{BB962C8B-B14F-4D97-AF65-F5344CB8AC3E}">
        <p14:creationId xmlns:p14="http://schemas.microsoft.com/office/powerpoint/2010/main" val="2525633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5BBDB0-6D54-3238-6B0F-319E99336BB6}"/>
              </a:ext>
            </a:extLst>
          </p:cNvPr>
          <p:cNvSpPr txBox="1"/>
          <p:nvPr/>
        </p:nvSpPr>
        <p:spPr bwMode="gray">
          <a:xfrm>
            <a:off x="285712" y="1239381"/>
            <a:ext cx="7890554" cy="1716521"/>
          </a:xfrm>
          <a:prstGeom prst="rect">
            <a:avLst/>
          </a:prstGeom>
          <a:noFill/>
        </p:spPr>
        <p:txBody>
          <a:bodyPr wrap="square" lIns="27000" tIns="27000" rIns="27000" bIns="27000" rtlCol="0" anchor="t">
            <a:spAutoFit/>
          </a:bodyPr>
          <a:lstStyle/>
          <a:p>
            <a:r>
              <a:rPr lang="en-US" sz="1200" dirty="0">
                <a:hlinkClick r:id="rId3"/>
              </a:rPr>
              <a:t>https://developer.android.com/training/testing/fundamentals/test-doubles#types</a:t>
            </a:r>
          </a:p>
          <a:p>
            <a:r>
              <a:rPr lang="en-US" sz="1200" dirty="0">
                <a:hlinkClick r:id="rId3"/>
              </a:rPr>
              <a:t>https://testing.googleblog.com/2013/06/testing-on-toilet-fake-your-way-to.html</a:t>
            </a:r>
            <a:endParaRPr lang="en-US" sz="1200" dirty="0"/>
          </a:p>
          <a:p>
            <a:r>
              <a:rPr lang="en-US" sz="1200" dirty="0">
                <a:hlinkClick r:id="rId4"/>
              </a:rPr>
              <a:t>https://testing.googleblog.com/2013/05/testing-on-toilet-dont-overuse-mocks.html</a:t>
            </a:r>
            <a:endParaRPr lang="en-US" sz="1200" dirty="0"/>
          </a:p>
          <a:p>
            <a:r>
              <a:rPr lang="en-US" sz="1200" dirty="0">
                <a:hlinkClick r:id="rId5"/>
              </a:rPr>
              <a:t>https://martinfowler.com/bliki/TestDouble.html</a:t>
            </a:r>
            <a:endParaRPr lang="en-US" sz="1200" dirty="0"/>
          </a:p>
          <a:p>
            <a:r>
              <a:rPr lang="en-US" sz="1200" dirty="0">
                <a:hlinkClick r:id="rId6"/>
              </a:rPr>
              <a:t>https://www.artofunittesting.com/</a:t>
            </a:r>
            <a:endParaRPr lang="en-US" sz="1200" dirty="0"/>
          </a:p>
          <a:p>
            <a:r>
              <a:rPr lang="en-US" sz="1200" dirty="0">
                <a:hlinkClick r:id="rId7"/>
              </a:rPr>
              <a:t>https://www.amazon.com/Art-Unit-Testing-examples/dp/1617290890</a:t>
            </a:r>
            <a:endParaRPr lang="en-US" sz="1200" dirty="0"/>
          </a:p>
          <a:p>
            <a:r>
              <a:rPr lang="en-US" sz="1200" dirty="0">
                <a:hlinkClick r:id="rId8"/>
              </a:rPr>
              <a:t>https://developer.android.com/training/testing/fundamentals</a:t>
            </a:r>
            <a:endParaRPr lang="en-US" sz="1200" dirty="0"/>
          </a:p>
          <a:p>
            <a:r>
              <a:rPr lang="en-US" sz="1200" dirty="0">
                <a:hlinkClick r:id="rId9"/>
              </a:rPr>
              <a:t>https://learn.microsoft.com/en-us/archive/msdn-magazine/2007/september/unit-testing-</a:t>
            </a:r>
            <a:endParaRPr lang="en-US" sz="1200" dirty="0">
              <a:hlinkClick r:id="rId10"/>
            </a:endParaRPr>
          </a:p>
          <a:p>
            <a:r>
              <a:rPr lang="en-US" sz="1200" dirty="0">
                <a:hlinkClick r:id="rId10"/>
              </a:rPr>
              <a:t>exploring-the-continuum-of-test-doubles</a:t>
            </a:r>
            <a:endParaRPr lang="en-US" sz="1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95FEAB7-4A8C-8CF2-DB03-F4E9F9F54AFC}"/>
              </a:ext>
            </a:extLst>
          </p:cNvPr>
          <p:cNvSpPr txBox="1">
            <a:spLocks/>
          </p:cNvSpPr>
          <p:nvPr/>
        </p:nvSpPr>
        <p:spPr>
          <a:xfrm>
            <a:off x="285712" y="376279"/>
            <a:ext cx="7886700" cy="43776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09"/>
            <a:r>
              <a:rPr lang="en-US" sz="2200" dirty="0">
                <a:solidFill>
                  <a:schemeClr val="tx2"/>
                </a:solidFill>
                <a:latin typeface="Century Gothic"/>
              </a:rPr>
              <a:t>Reference Links</a:t>
            </a:r>
          </a:p>
        </p:txBody>
      </p:sp>
    </p:spTree>
    <p:extLst>
      <p:ext uri="{BB962C8B-B14F-4D97-AF65-F5344CB8AC3E}">
        <p14:creationId xmlns:p14="http://schemas.microsoft.com/office/powerpoint/2010/main" val="1978463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9972-99C4-F24D-CA5A-2A9729A0F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A5A521-DDDF-8D4D-4489-9C65651A3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693226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972</TotalTime>
  <Words>494</Words>
  <Application>Microsoft Macintosh PowerPoint</Application>
  <PresentationFormat>On-screen Show (4:3)</PresentationFormat>
  <Paragraphs>86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Century Gothic</vt:lpstr>
      <vt:lpstr>Times New Roman</vt:lpstr>
      <vt:lpstr>Office 2013 - 2022 Theme</vt:lpstr>
      <vt:lpstr>Android : Unit Testing Best Practices   Prefer Fakes over Mocks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Q/A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Venkataiah Ballem</cp:lastModifiedBy>
  <cp:revision>251</cp:revision>
  <dcterms:created xsi:type="dcterms:W3CDTF">2013-01-27T09:14:16Z</dcterms:created>
  <dcterms:modified xsi:type="dcterms:W3CDTF">2025-04-21T17:36:42Z</dcterms:modified>
  <cp:category/>
</cp:coreProperties>
</file>